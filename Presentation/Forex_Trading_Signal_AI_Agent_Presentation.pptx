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6C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7863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F5F8FC"/>
                </a:solidFill>
                <a:latin typeface="Aptos"/>
              </a:defRPr>
            </a:pPr>
            <a:r>
              <a:t>FOREX TRADING</a:t>
            </a:r>
          </a:p>
          <a:p>
            <a:pPr algn="l">
              <a:spcAft>
                <a:spcPts val="600"/>
              </a:spcAft>
              <a:defRPr sz="3400" b="1">
                <a:solidFill>
                  <a:srgbClr val="F5F8FC"/>
                </a:solidFill>
                <a:latin typeface="Aptos"/>
              </a:defRPr>
            </a:pPr>
            <a:r>
              <a:t>SIGNAL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26C4B1"/>
                </a:solidFill>
                <a:latin typeface="Aptos"/>
              </a:defRPr>
            </a:pPr>
            <a:r>
              <a:t>EUR/USD • Machine Learning • Technical Indicators •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3205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B2C1D2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5029200" cy="5693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rPr dirty="0"/>
              <a:t>Prepared by</a:t>
            </a:r>
            <a:endParaRPr lang="en-US" dirty="0"/>
          </a:p>
          <a:p>
            <a:pPr algn="l">
              <a:spcAft>
                <a:spcPts val="6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rPr dirty="0"/>
              <a:t> Ramu Suda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FFBE5C"/>
                </a:solidFill>
                <a:latin typeface="Aptos"/>
              </a:defRPr>
            </a:pPr>
            <a:r>
              <a:t>Exploratory research prototype — not investment advice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960120" cy="50292"/>
          </a:xfrm>
          <a:prstGeom prst="rect">
            <a:avLst/>
          </a:prstGeom>
          <a:solidFill>
            <a:srgbClr val="26C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B2C1D2"/>
                </a:solidFill>
                <a:latin typeface="Aptos"/>
              </a:defRPr>
            </a:pPr>
            <a:r>
              <a:t>A reproducible analytics workflow for exploring EUR/USD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2C1D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t>•  Analyze historical EUR/USD price data and calculate technical indicators.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t>•  Generate rule-based trading signals and evaluate a simple historical backtest.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t>•  Compare Random Forest, XGBoost, and LSTM approaches against a majority-class baseline.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t>•  Use walk-forward folds to examine how results vary across sequential test periods.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t>•  Present key outputs in Excel and an interactive Power BI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End-to-end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960120" cy="50292"/>
          </a:xfrm>
          <a:prstGeom prst="rect">
            <a:avLst/>
          </a:prstGeom>
          <a:solidFill>
            <a:srgbClr val="26C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B2C1D2"/>
                </a:solidFill>
                <a:latin typeface="Aptos"/>
              </a:defRPr>
            </a:pPr>
            <a:r>
              <a:t>From raw data to model evaluation and dashboard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2C1D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2057400" cy="2148840"/>
          </a:xfrm>
          <a:prstGeom prst="roundRect">
            <a:avLst/>
          </a:prstGeom>
          <a:solidFill>
            <a:srgbClr val="152B46"/>
          </a:solidFill>
          <a:ln>
            <a:solidFill>
              <a:srgbClr val="26C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3317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26C4B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16352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Input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33756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B2C1D2"/>
                </a:solidFill>
                <a:latin typeface="Aptos"/>
              </a:defRPr>
            </a:pPr>
            <a:r>
              <a:t>Price history, Monte Carlo scenarios, trade 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1" y="292608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26C4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79" y="2148840"/>
            <a:ext cx="2057400" cy="2148840"/>
          </a:xfrm>
          <a:prstGeom prst="roundRect">
            <a:avLst/>
          </a:prstGeom>
          <a:solidFill>
            <a:srgbClr val="152B46"/>
          </a:solidFill>
          <a:ln>
            <a:solidFill>
              <a:srgbClr val="26C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90672" y="23317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26C4B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816352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333756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B2C1D2"/>
                </a:solidFill>
                <a:latin typeface="Aptos"/>
              </a:defRPr>
            </a:pPr>
            <a:r>
              <a:t>Validate columns, order timestamps, derive indicators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292608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26C4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2148840"/>
            <a:ext cx="2057400" cy="2148840"/>
          </a:xfrm>
          <a:prstGeom prst="roundRect">
            <a:avLst/>
          </a:prstGeom>
          <a:solidFill>
            <a:srgbClr val="152B46"/>
          </a:solidFill>
          <a:ln>
            <a:solidFill>
              <a:srgbClr val="26C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22392" y="23317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26C4B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2392" y="2816352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333756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B2C1D2"/>
                </a:solidFill>
                <a:latin typeface="Aptos"/>
              </a:defRPr>
            </a:pPr>
            <a:r>
              <a:t>Rule-based signals and supervised model predictions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1" y="292608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26C4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19" y="2148840"/>
            <a:ext cx="2057400" cy="2148840"/>
          </a:xfrm>
          <a:prstGeom prst="roundRect">
            <a:avLst/>
          </a:prstGeom>
          <a:solidFill>
            <a:srgbClr val="152B46"/>
          </a:solidFill>
          <a:ln>
            <a:solidFill>
              <a:srgbClr val="26C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54111" y="23317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26C4B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1" y="2816352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1" y="333756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B2C1D2"/>
                </a:solidFill>
                <a:latin typeface="Aptos"/>
              </a:defRPr>
            </a:pPr>
            <a:r>
              <a:t>Holdout comparison, walk-forward folds, simple backtest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1" y="292608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26C4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1240" y="2148840"/>
            <a:ext cx="2057400" cy="2148840"/>
          </a:xfrm>
          <a:prstGeom prst="roundRect">
            <a:avLst/>
          </a:prstGeom>
          <a:solidFill>
            <a:srgbClr val="152B46"/>
          </a:solidFill>
          <a:ln>
            <a:solidFill>
              <a:srgbClr val="26C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85832" y="23317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26C4B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5832" y="2816352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Communicate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85832" y="333756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B2C1D2"/>
                </a:solidFill>
                <a:latin typeface="Aptos"/>
              </a:defRPr>
            </a:pPr>
            <a:r>
              <a:t>CSV reports, Excel workbook, Power BI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98348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BE5C"/>
                </a:solidFill>
                <a:latin typeface="Aptos"/>
              </a:defRPr>
            </a:pPr>
            <a:r>
              <a:t>Key principle: preserve chronological order to reduce look-ahead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Data and engineered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960120" cy="50292"/>
          </a:xfrm>
          <a:prstGeom prst="rect">
            <a:avLst/>
          </a:prstGeom>
          <a:solidFill>
            <a:srgbClr val="26C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B2C1D2"/>
                </a:solidFill>
                <a:latin typeface="Aptos"/>
              </a:defRPr>
            </a:pPr>
            <a:r>
              <a:t>Small, short-horizon dataset; results should be interpreted cautiously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2C1D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14600" cy="1325880"/>
          </a:xfrm>
          <a:prstGeom prst="roundRect">
            <a:avLst/>
          </a:prstGeom>
          <a:solidFill>
            <a:srgbClr val="152B46"/>
          </a:solidFill>
          <a:ln>
            <a:solidFill>
              <a:srgbClr val="2B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B2C1D2"/>
                </a:solidFill>
                <a:latin typeface="Aptos"/>
              </a:defRPr>
            </a:pPr>
            <a:r>
              <a:t>EUR/USD price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86000"/>
            <a:ext cx="218541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26C4B1"/>
                </a:solidFill>
                <a:latin typeface="Aptos"/>
              </a:defRPr>
            </a:pPr>
            <a:r>
              <a:t>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788920"/>
            <a:ext cx="21854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B2C1D2"/>
                </a:solidFill>
                <a:latin typeface="Aptos"/>
              </a:defRPr>
            </a:pPr>
            <a:r>
              <a:t>Hourly sample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514600" cy="1325880"/>
          </a:xfrm>
          <a:prstGeom prst="roundRect">
            <a:avLst/>
          </a:prstGeom>
          <a:solidFill>
            <a:srgbClr val="152B46"/>
          </a:solidFill>
          <a:ln>
            <a:solidFill>
              <a:srgbClr val="2B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1965960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B2C1D2"/>
                </a:solidFill>
                <a:latin typeface="Aptos"/>
              </a:defRPr>
            </a:pPr>
            <a:r>
              <a:t>Monte Carlo 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286000"/>
            <a:ext cx="218541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FFBE5C"/>
                </a:solidFill>
                <a:latin typeface="Aptos"/>
              </a:defRPr>
            </a:pPr>
            <a:r>
              <a:t>1,000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788920"/>
            <a:ext cx="21854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B2C1D2"/>
                </a:solidFill>
                <a:latin typeface="Aptos"/>
              </a:defRPr>
            </a:pPr>
            <a:r>
              <a:t>Scenario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2514600" cy="1325880"/>
          </a:xfrm>
          <a:prstGeom prst="roundRect">
            <a:avLst/>
          </a:prstGeom>
          <a:solidFill>
            <a:srgbClr val="152B46"/>
          </a:solidFill>
          <a:ln>
            <a:solidFill>
              <a:srgbClr val="2B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965960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B2C1D2"/>
                </a:solidFill>
                <a:latin typeface="Aptos"/>
              </a:defRPr>
            </a:pPr>
            <a:r>
              <a:t>Trade log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286000"/>
            <a:ext cx="218541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67DCAA"/>
                </a:solidFill>
                <a:latin typeface="Aptos"/>
              </a:defRPr>
            </a:pPr>
            <a:r>
              <a:t>150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788920"/>
            <a:ext cx="21854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B2C1D2"/>
                </a:solidFill>
                <a:latin typeface="Aptos"/>
              </a:defRPr>
            </a:pPr>
            <a:r>
              <a:t>Historical log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828800"/>
            <a:ext cx="2514600" cy="1325880"/>
          </a:xfrm>
          <a:prstGeom prst="roundRect">
            <a:avLst/>
          </a:prstGeom>
          <a:solidFill>
            <a:srgbClr val="152B46"/>
          </a:solidFill>
          <a:ln>
            <a:solidFill>
              <a:srgbClr val="2B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25712" y="1965960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B2C1D2"/>
                </a:solidFill>
                <a:latin typeface="Aptos"/>
              </a:defRPr>
            </a:pPr>
            <a:r>
              <a:t>Indicator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2286000"/>
            <a:ext cx="218541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26C4B1"/>
                </a:solidFill>
                <a:latin typeface="Aptos"/>
              </a:defRPr>
            </a:pPr>
            <a:r>
              <a:t>24 cols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2788920"/>
            <a:ext cx="21854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B2C1D2"/>
                </a:solidFill>
                <a:latin typeface="Aptos"/>
              </a:defRPr>
            </a:pPr>
            <a:r>
              <a:t>500 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749039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Price sample spans 1–21 January 2023.</a:t>
            </a:r>
          </a:p>
          <a:p>
            <a:pPr>
              <a:spcAft>
                <a:spcPts val="14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Derived technical indicators are saved to forex_technical_indicators.csv.</a:t>
            </a:r>
          </a:p>
          <a:p>
            <a:pPr>
              <a:spcAft>
                <a:spcPts val="14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Features include technical signals such as RSI and MACD, alongside other prepared inputs.</a:t>
            </a:r>
          </a:p>
          <a:p>
            <a:pPr>
              <a:spcAft>
                <a:spcPts val="14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The short sample is not representative of all market regimes.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960120" cy="50292"/>
          </a:xfrm>
          <a:prstGeom prst="rect">
            <a:avLst/>
          </a:prstGeom>
          <a:solidFill>
            <a:srgbClr val="26C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B2C1D2"/>
                </a:solidFill>
                <a:latin typeface="Aptos"/>
              </a:defRPr>
            </a:pPr>
            <a:r>
              <a:t>Chronological holdout test: 360 training rows and 90 test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2C1D2"/>
                </a:solidFill>
                <a:latin typeface="Aptos"/>
              </a:defRPr>
            </a:pPr>
            <a:r>
              <a:t>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28800"/>
          <a:ext cx="54864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D1B30"/>
                          </a:solidFill>
                          <a:latin typeface="Aptos"/>
                        </a:defRPr>
                      </a:pPr>
                      <a:r>
                        <a:t>Model / baseline</a:t>
                      </a:r>
                    </a:p>
                  </a:txBody>
                  <a:tcPr>
                    <a:solidFill>
                      <a:srgbClr val="26C4B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D1B30"/>
                          </a:solidFill>
                          <a:latin typeface="Aptos"/>
                        </a:defRPr>
                      </a:pPr>
                      <a:r>
                        <a:t>Holdout accuracy</a:t>
                      </a:r>
                    </a:p>
                  </a:txBody>
                  <a:tcPr>
                    <a:solidFill>
                      <a:srgbClr val="26C4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XGBoost (20 features)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53.33%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Random Forest (20 features)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52.22%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Random Forest (8 features)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51.11%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Majority-class baseline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47.78%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LSTM (20 features)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47.78%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49440" y="214884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B2C1D2"/>
                </a:solidFill>
                <a:latin typeface="Aptos"/>
              </a:defRPr>
            </a:pPr>
            <a:r>
              <a:t>Best holdout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606040"/>
            <a:ext cx="39319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900" b="1">
                <a:solidFill>
                  <a:srgbClr val="26C4B1"/>
                </a:solidFill>
                <a:latin typeface="Aptos"/>
              </a:defRPr>
            </a:pPr>
            <a:r>
              <a:t>XGBoost</a:t>
            </a:r>
          </a:p>
          <a:p>
            <a:pPr algn="l">
              <a:spcAft>
                <a:spcPts val="600"/>
              </a:spcAft>
              <a:defRPr sz="2900" b="1">
                <a:solidFill>
                  <a:srgbClr val="26C4B1"/>
                </a:solidFill>
                <a:latin typeface="Aptos"/>
              </a:defRPr>
            </a:pPr>
            <a:r>
              <a:t>53.33%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977639"/>
            <a:ext cx="3931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5.55 percentage points above the 47.78% majority baseline on this holdout.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4983480"/>
            <a:ext cx="4023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FFBE5C"/>
                </a:solidFill>
                <a:latin typeface="Aptos"/>
              </a:defRPr>
            </a:pPr>
            <a:r>
              <a:t>This small difference is not evidence of a reliable trading edge.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Walk-forward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960120" cy="50292"/>
          </a:xfrm>
          <a:prstGeom prst="rect">
            <a:avLst/>
          </a:prstGeom>
          <a:solidFill>
            <a:srgbClr val="26C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B2C1D2"/>
                </a:solidFill>
                <a:latin typeface="Aptos"/>
              </a:defRPr>
            </a:pPr>
            <a:r>
              <a:t>Four sequential folds show variable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2C1D2"/>
                </a:solidFill>
                <a:latin typeface="Aptos"/>
              </a:defRPr>
            </a:pPr>
            <a:r>
              <a:t>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74980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1B30"/>
                          </a:solidFill>
                          <a:latin typeface="Aptos"/>
                        </a:defRPr>
                      </a:pPr>
                      <a:r>
                        <a:t>Fold</a:t>
                      </a:r>
                    </a:p>
                  </a:txBody>
                  <a:tcPr>
                    <a:solidFill>
                      <a:srgbClr val="26C4B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1B30"/>
                          </a:solidFill>
                          <a:latin typeface="Aptos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26C4B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1B30"/>
                          </a:solidFill>
                          <a:latin typeface="Aptos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26C4B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1B30"/>
                          </a:solidFill>
                          <a:latin typeface="Aptos"/>
                        </a:defRPr>
                      </a:pPr>
                      <a:r>
                        <a:t>Balanced accuracy</a:t>
                      </a:r>
                    </a:p>
                  </a:txBody>
                  <a:tcPr>
                    <a:solidFill>
                      <a:srgbClr val="26C4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48.89%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51.11%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49.31%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60.00%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55.56%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60.50%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57.78%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46.67%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58.04%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55.56%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48.89%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54.64%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55.56%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50.56%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55.62%</a:t>
                      </a:r>
                    </a:p>
                  </a:txBody>
                  <a:tcPr>
                    <a:solidFill>
                      <a:srgbClr val="15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41080" y="214884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B2C1D2"/>
                </a:solidFill>
                <a:latin typeface="Aptos"/>
              </a:defRPr>
            </a:pPr>
            <a:r>
              <a:t>Mean XGBoost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69748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26C4B1"/>
                </a:solidFill>
                <a:latin typeface="Aptos"/>
              </a:defRPr>
            </a:pPr>
            <a:r>
              <a:t>55.56%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35204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B2C1D2"/>
                </a:solidFill>
                <a:latin typeface="Aptos"/>
              </a:defRPr>
            </a:pPr>
            <a:r>
              <a:t>Mean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38862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100" b="1">
                <a:solidFill>
                  <a:srgbClr val="F5F8FC"/>
                </a:solidFill>
                <a:latin typeface="Aptos"/>
              </a:defRPr>
            </a:pPr>
            <a:r>
              <a:t>50.56%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8640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FBE5C"/>
                </a:solidFill>
                <a:latin typeface="Aptos"/>
              </a:defRPr>
            </a:pPr>
            <a:r>
              <a:t>Mean improvement: 5.00 percentage points. Fold 1 underperformed baseline.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Backtest: what it says—and does not say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960120" cy="50292"/>
          </a:xfrm>
          <a:prstGeom prst="rect">
            <a:avLst/>
          </a:prstGeom>
          <a:solidFill>
            <a:srgbClr val="26C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B2C1D2"/>
                </a:solidFill>
                <a:latin typeface="Aptos"/>
              </a:defRPr>
            </a:pPr>
            <a:r>
              <a:t>Simple historical simulation with an assumed 1-pip cost per active period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2C1D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2560320" cy="1325880"/>
          </a:xfrm>
          <a:prstGeom prst="roundRect">
            <a:avLst/>
          </a:prstGeom>
          <a:solidFill>
            <a:srgbClr val="152B46"/>
          </a:solidFill>
          <a:ln>
            <a:solidFill>
              <a:srgbClr val="2B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011679"/>
            <a:ext cx="2231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B2C1D2"/>
                </a:solidFill>
                <a:latin typeface="Aptos"/>
              </a:defRPr>
            </a:pPr>
            <a:r>
              <a:t>Active periods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31720"/>
            <a:ext cx="223113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26C4B1"/>
                </a:solidFill>
                <a:latin typeface="Aptos"/>
              </a:defRPr>
            </a:pPr>
            <a:r>
              <a:t>277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874519"/>
            <a:ext cx="2560320" cy="1325880"/>
          </a:xfrm>
          <a:prstGeom prst="roundRect">
            <a:avLst/>
          </a:prstGeom>
          <a:solidFill>
            <a:srgbClr val="152B46"/>
          </a:solidFill>
          <a:ln>
            <a:solidFill>
              <a:srgbClr val="2B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85032" y="2011679"/>
            <a:ext cx="2231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B2C1D2"/>
                </a:solidFill>
                <a:latin typeface="Aptos"/>
              </a:defRPr>
            </a:pPr>
            <a:r>
              <a:t>Wins / losses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331720"/>
            <a:ext cx="223113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FFBE5C"/>
                </a:solidFill>
                <a:latin typeface="Aptos"/>
              </a:defRPr>
            </a:pPr>
            <a:r>
              <a:t>126 / 150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74519"/>
            <a:ext cx="2560320" cy="1325880"/>
          </a:xfrm>
          <a:prstGeom prst="roundRect">
            <a:avLst/>
          </a:prstGeom>
          <a:solidFill>
            <a:srgbClr val="152B46"/>
          </a:solidFill>
          <a:ln>
            <a:solidFill>
              <a:srgbClr val="2B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1" y="2011679"/>
            <a:ext cx="2231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B2C1D2"/>
                </a:solidFill>
                <a:latin typeface="Aptos"/>
              </a:defRPr>
            </a:pPr>
            <a:r>
              <a:t>Gross cumulative return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331720"/>
            <a:ext cx="223113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F67070"/>
                </a:solidFill>
                <a:latin typeface="Aptos"/>
              </a:defRPr>
            </a:pPr>
            <a:r>
              <a:t>−0.44%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874519"/>
            <a:ext cx="2560320" cy="1325880"/>
          </a:xfrm>
          <a:prstGeom prst="roundRect">
            <a:avLst/>
          </a:prstGeom>
          <a:solidFill>
            <a:srgbClr val="152B46"/>
          </a:solidFill>
          <a:ln>
            <a:solidFill>
              <a:srgbClr val="2B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71432" y="2011679"/>
            <a:ext cx="2231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B2C1D2"/>
                </a:solidFill>
                <a:latin typeface="Aptos"/>
              </a:defRPr>
            </a:pPr>
            <a:r>
              <a:t>Net cumulative 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2331720"/>
            <a:ext cx="223113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F67070"/>
                </a:solidFill>
                <a:latin typeface="Aptos"/>
              </a:defRPr>
            </a:pPr>
            <a:r>
              <a:t>−2.95%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9476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The tested strategy was not profitable under the stated simple cost assumption.</a:t>
            </a:r>
          </a:p>
          <a:p>
            <a:pPr>
              <a:spcAft>
                <a:spcPts val="14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This is a basic historical simulation, not a production-grade execution backtest.</a:t>
            </a:r>
          </a:p>
          <a:p>
            <a:pPr>
              <a:spcAft>
                <a:spcPts val="14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Slippage, spread variability, latency, leverage, liquidity, and risk limits are not fully modelled.</a:t>
            </a:r>
          </a:p>
          <a:p>
            <a:pPr>
              <a:spcAft>
                <a:spcPts val="14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Do not use these outputs as a live trading recommendation.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Reporting and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960120" cy="50292"/>
          </a:xfrm>
          <a:prstGeom prst="rect">
            <a:avLst/>
          </a:prstGeom>
          <a:solidFill>
            <a:srgbClr val="26C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B2C1D2"/>
                </a:solidFill>
                <a:latin typeface="Aptos"/>
              </a:defRPr>
            </a:pPr>
            <a:r>
              <a:t>Power BI combines market, signal, and validation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2C1D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EUR/USD closing-price trend with a date-range slicer.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Trading-signal distribution and a signal slicer.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RSI and MACD indicator charts.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Model-accuracy comparison across XGBoost, Random Forest, reduced-feature RF, LSTM, and baseline.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Walk-forward fold comparison, KPI cards, and an explicit exploratory-results disclaimer.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Excel workbook contains 12 analysis and results sheets.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26C4B1"/>
                </a:solidFill>
                <a:latin typeface="Aptos"/>
              </a:defRPr>
            </a:pPr>
            <a:r>
              <a:t>Dashboard preview is stored as PowerBI/forex_dashboard.png in the project repository.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Limitations and responsible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960120" cy="50292"/>
          </a:xfrm>
          <a:prstGeom prst="rect">
            <a:avLst/>
          </a:prstGeom>
          <a:solidFill>
            <a:srgbClr val="26C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B2C1D2"/>
                </a:solidFill>
                <a:latin typeface="Aptos"/>
              </a:defRPr>
            </a:pPr>
            <a:r>
              <a:t>Important before making any financial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2C1D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Only 500 hourly price rows across about three weeks are available for the core sample.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Accuracy is only slightly above baseline and varies across folds.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The LSTM result is weak and strongly biased toward predicting upward movement on the test period.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A high classification accuracy alone does not establish positive risk-adjusted returns.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Further work should use longer data, multiple market regimes, leakage checks, realistic costs, risk metrics, and paper trading.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Conclusion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960120" cy="50292"/>
          </a:xfrm>
          <a:prstGeom prst="rect">
            <a:avLst/>
          </a:prstGeom>
          <a:solidFill>
            <a:srgbClr val="26C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B2C1D2"/>
                </a:solidFill>
                <a:latin typeface="Aptos"/>
              </a:defRPr>
            </a:pPr>
            <a:r>
              <a:t>A useful analytics prototype—not a proven trading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2C1D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Completed: data preparation, technical indicators, signal generation, model comparison, SHAP analysis, walk-forward validation, Excel reporting, and Power BI dashboard.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Next: extend the dataset across market regimes and use nested/time-aware model selection.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Add realistic bid–ask spread, slippage, position sizing, drawdown, Sharpe ratio, and risk controls.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Evaluate with a paper-trading period before considering any real-money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FBE5C"/>
                </a:solidFill>
                <a:latin typeface="Aptos"/>
              </a:defRPr>
            </a:pPr>
            <a:r>
              <a:t>Disclaimer: Educational/research use only. Not financial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840</Words>
  <Application>Microsoft Office PowerPoint</Application>
  <PresentationFormat>Widescreen</PresentationFormat>
  <Paragraphs>150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BALAJI SUDA</dc:creator>
  <cp:keywords/>
  <dc:description>generated using python-pptx</dc:description>
  <cp:lastModifiedBy>BALAJI SUDA</cp:lastModifiedBy>
  <cp:revision>2</cp:revision>
  <dcterms:created xsi:type="dcterms:W3CDTF">2013-01-27T09:14:16Z</dcterms:created>
  <dcterms:modified xsi:type="dcterms:W3CDTF">2026-10-18T15:05:23Z</dcterms:modified>
  <cp:category/>
</cp:coreProperties>
</file>